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Barlow Condensed Medium"/>
      <p:regular r:id="rId27"/>
      <p:bold r:id="rId28"/>
      <p:italic r:id="rId29"/>
      <p:boldItalic r:id="rId30"/>
    </p:embeddedFont>
    <p:embeddedFont>
      <p:font typeface="Barlow Condense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BarlowCondensedMedium-bold.fntdata"/><Relationship Id="rId27" Type="http://schemas.openxmlformats.org/officeDocument/2006/relationships/font" Target="fonts/BarlowCondensed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Condensed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Condensed-regular.fntdata"/><Relationship Id="rId30" Type="http://schemas.openxmlformats.org/officeDocument/2006/relationships/font" Target="fonts/BarlowCondensed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BarlowCondensed-italic.fntdata"/><Relationship Id="rId10" Type="http://schemas.openxmlformats.org/officeDocument/2006/relationships/slide" Target="slides/slide5.xml"/><Relationship Id="rId32" Type="http://schemas.openxmlformats.org/officeDocument/2006/relationships/font" Target="fonts/BarlowCondense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BarlowCondense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dea3b57b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dea3b57b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dea3b57b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dea3b57b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dea3b57b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dea3b57b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ea3b57b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ea3b57b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ea3b57b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dea3b57b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dea3b57b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dea3b57b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df640acf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df640acf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df640acf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df640acf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df640acf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df640acf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df640acf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df640acf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df640acf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df640acf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df640acf2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df640acf2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df640acf2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df640acf2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df640acf2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df640acf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df640acf2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df640acf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df640acf2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df640acf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df640acf2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df640acf2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df640acf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edf640acf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df640acf2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df640acf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df640acf2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df640acf2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None/>
              <a:defRPr b="1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779775"/>
            <a:ext cx="8520600" cy="41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53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94925"/>
            <a:ext cx="3999900" cy="40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94925"/>
            <a:ext cx="3999900" cy="40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200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5752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63B77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56A5D"/>
              </a:buClr>
              <a:buSzPts val="2800"/>
              <a:buFont typeface="Barlow Condensed"/>
              <a:buNone/>
              <a:defRPr b="1" sz="2800">
                <a:solidFill>
                  <a:srgbClr val="156A5D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800"/>
              <a:buFont typeface="Barlow Condensed Medium"/>
              <a:buChar char="●"/>
              <a:defRPr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400"/>
              <a:buFont typeface="Barlow Condensed Medium"/>
              <a:buChar char="○"/>
              <a:defRPr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400"/>
              <a:buFont typeface="Barlow Condensed Medium"/>
              <a:buChar char="■"/>
              <a:defRPr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400"/>
              <a:buFont typeface="Barlow Condensed Medium"/>
              <a:buChar char="●"/>
              <a:defRPr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400"/>
              <a:buFont typeface="Barlow Condensed Medium"/>
              <a:buChar char="○"/>
              <a:defRPr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400"/>
              <a:buFont typeface="Barlow Condensed Medium"/>
              <a:buChar char="■"/>
              <a:defRPr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400"/>
              <a:buFont typeface="Barlow Condensed Medium"/>
              <a:buChar char="●"/>
              <a:defRPr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400"/>
              <a:buFont typeface="Barlow Condensed Medium"/>
              <a:buChar char="○"/>
              <a:defRPr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400"/>
              <a:buFont typeface="Barlow Condensed Medium"/>
              <a:buChar char="■"/>
              <a:defRPr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0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5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3B77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15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Analyse électorale Municipales 2026</a:t>
            </a:r>
            <a:endParaRPr b="1">
              <a:solidFill>
                <a:srgbClr val="156A5D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42750" y="4675900"/>
            <a:ext cx="5934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Avec la participation des éditions de l’agenda des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Écologistes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 de Toulouse.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32647" l="13316" r="14938" t="39162"/>
          <a:stretch/>
        </p:blipFill>
        <p:spPr>
          <a:xfrm>
            <a:off x="93300" y="77550"/>
            <a:ext cx="3017956" cy="6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fr">
                <a:solidFill>
                  <a:srgbClr val="146A5D"/>
                </a:solidFill>
              </a:rPr>
              <a:t>Sommaire</a:t>
            </a:r>
            <a:endParaRPr b="1">
              <a:solidFill>
                <a:srgbClr val="146A5D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809025"/>
            <a:ext cx="8520600" cy="27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Barlow Condensed Medium"/>
              <a:buChar char="●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Scores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Premier tour : Vivre mieux + Demain Toulouse à gauche et Ecologiste + Avec JL Moudenc (déjà vu jeudi 11 juin)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Second tour (déjà vu jeudi 11 juin)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Barlow Condensed Medium"/>
              <a:buChar char="●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Abstention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Barlow Condensed Medium"/>
              <a:buChar char="●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Augmentation voix Moudenc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Barlow Condensed Medium"/>
              <a:buChar char="●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Manque de report à gauche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Votes blanc/nuls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Quels sont les bons élèves ?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Barlow Condensed Medium"/>
              <a:buChar char="●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Autres analyses (si vous avez encore de l’énergie (j’en aurai plus))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Bastions de gauche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Barlow Condensed Medium"/>
              <a:buChar char="○"/>
            </a:pPr>
            <a:r>
              <a:rPr lang="fr"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Typologie des bureaux de votes </a:t>
            </a:r>
            <a:endParaRPr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39950" y="3501825"/>
            <a:ext cx="88641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Données :</a:t>
            </a:r>
            <a:endParaRPr b="1" sz="1300">
              <a:solidFill>
                <a:srgbClr val="146A5D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Premier Tour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 : https://data.toulouse-metropole.fr/explore/dataset/resultats-elections-municipales-2026-1er-tour/information/ 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Second Tour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: https://data.toulouse-metropole.fr/explore/dataset/resultats-elections-municipales-2026-2nd-tour/information/ 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Européennes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:</a:t>
            </a: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https://data.toulouse-metropole.fr/explore/dataset/euro-2024-1t-resultats/information/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Lieux de vote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: https://data.toulouse-metropole.fr/explore/dataset/election-2026-lieux-de-vote/information/ 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Code </a:t>
            </a:r>
            <a:r>
              <a:rPr b="1" lang="fr" sz="6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(et pas du claude code) </a:t>
            </a:r>
            <a:r>
              <a:rPr b="1" lang="fr" sz="1300">
                <a:solidFill>
                  <a:srgbClr val="146A5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</a:t>
            </a:r>
            <a:r>
              <a:rPr lang="fr" sz="13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https://github.com/AlexisHct/Analyses_elections_municipales_2026</a:t>
            </a:r>
            <a:endParaRPr sz="13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 que l’on sait déjà (Premier Tour)</a:t>
            </a:r>
            <a:endParaRPr/>
          </a:p>
        </p:txBody>
      </p:sp>
      <p:pic>
        <p:nvPicPr>
          <p:cNvPr id="69" name="Google Shape;69;p15" title="scores_listes_premier_tour.png"/>
          <p:cNvPicPr preferRelativeResize="0"/>
          <p:nvPr/>
        </p:nvPicPr>
        <p:blipFill rotWithShape="1">
          <a:blip r:embed="rId3">
            <a:alphaModFix/>
          </a:blip>
          <a:srcRect b="83681" l="0" r="0" t="0"/>
          <a:stretch/>
        </p:blipFill>
        <p:spPr>
          <a:xfrm>
            <a:off x="99338" y="3896802"/>
            <a:ext cx="2939150" cy="839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43308" l="0" r="0" t="43030"/>
          <a:stretch/>
        </p:blipFill>
        <p:spPr>
          <a:xfrm>
            <a:off x="3131700" y="4033452"/>
            <a:ext cx="2939150" cy="702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15"/>
          <p:cNvGrpSpPr/>
          <p:nvPr/>
        </p:nvGrpSpPr>
        <p:grpSpPr>
          <a:xfrm>
            <a:off x="3162250" y="692725"/>
            <a:ext cx="3020724" cy="3307732"/>
            <a:chOff x="131750" y="723125"/>
            <a:chExt cx="3020724" cy="3307732"/>
          </a:xfrm>
        </p:grpSpPr>
        <p:pic>
          <p:nvPicPr>
            <p:cNvPr id="72" name="Google Shape;72;p15" title="Piquemal_map_premier_tour.png"/>
            <p:cNvPicPr preferRelativeResize="0"/>
            <p:nvPr/>
          </p:nvPicPr>
          <p:blipFill rotWithShape="1">
            <a:blip r:embed="rId4">
              <a:alphaModFix/>
            </a:blip>
            <a:srcRect b="31399" l="19794" r="19490" t="0"/>
            <a:stretch/>
          </p:blipFill>
          <p:spPr>
            <a:xfrm>
              <a:off x="131750" y="723125"/>
              <a:ext cx="3020724" cy="2844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5" title="Piquemal_map_premier_tour.png"/>
            <p:cNvPicPr preferRelativeResize="0"/>
            <p:nvPr/>
          </p:nvPicPr>
          <p:blipFill rotWithShape="1">
            <a:blip r:embed="rId4">
              <a:alphaModFix/>
            </a:blip>
            <a:srcRect b="6209" l="19794" r="19490" t="83079"/>
            <a:stretch/>
          </p:blipFill>
          <p:spPr>
            <a:xfrm>
              <a:off x="131750" y="3586782"/>
              <a:ext cx="3020724" cy="444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15"/>
          <p:cNvGrpSpPr/>
          <p:nvPr/>
        </p:nvGrpSpPr>
        <p:grpSpPr>
          <a:xfrm>
            <a:off x="0" y="692725"/>
            <a:ext cx="3137825" cy="3234525"/>
            <a:chOff x="4269975" y="845125"/>
            <a:chExt cx="3137825" cy="3234525"/>
          </a:xfrm>
        </p:grpSpPr>
        <p:pic>
          <p:nvPicPr>
            <p:cNvPr id="75" name="Google Shape;75;p15" title="Vivre_mieux_map_premier_tour.png"/>
            <p:cNvPicPr preferRelativeResize="0"/>
            <p:nvPr/>
          </p:nvPicPr>
          <p:blipFill rotWithShape="1">
            <a:blip r:embed="rId5">
              <a:alphaModFix/>
            </a:blip>
            <a:srcRect b="31750" l="19402" r="18609" t="0"/>
            <a:stretch/>
          </p:blipFill>
          <p:spPr>
            <a:xfrm>
              <a:off x="4269975" y="845125"/>
              <a:ext cx="3084150" cy="2829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 title="Vivre_mieux_map_premier_tour.png"/>
            <p:cNvPicPr preferRelativeResize="0"/>
            <p:nvPr/>
          </p:nvPicPr>
          <p:blipFill rotWithShape="1">
            <a:blip r:embed="rId5">
              <a:alphaModFix/>
            </a:blip>
            <a:srcRect b="6917" l="19402" r="18609" t="83314"/>
            <a:stretch/>
          </p:blipFill>
          <p:spPr>
            <a:xfrm>
              <a:off x="4323650" y="3674625"/>
              <a:ext cx="3084150" cy="405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7" name="Google Shape;77;p15"/>
          <p:cNvGrpSpPr/>
          <p:nvPr/>
        </p:nvGrpSpPr>
        <p:grpSpPr>
          <a:xfrm>
            <a:off x="6123275" y="692725"/>
            <a:ext cx="3020724" cy="3511694"/>
            <a:chOff x="5841350" y="648925"/>
            <a:chExt cx="3020724" cy="3511694"/>
          </a:xfrm>
        </p:grpSpPr>
        <p:pic>
          <p:nvPicPr>
            <p:cNvPr id="78" name="Google Shape;78;p15" title="Moudenc_map_premier_tour.png"/>
            <p:cNvPicPr preferRelativeResize="0"/>
            <p:nvPr/>
          </p:nvPicPr>
          <p:blipFill rotWithShape="1">
            <a:blip r:embed="rId6">
              <a:alphaModFix/>
            </a:blip>
            <a:srcRect b="31773" l="19474" r="19953" t="0"/>
            <a:stretch/>
          </p:blipFill>
          <p:spPr>
            <a:xfrm>
              <a:off x="5841350" y="648925"/>
              <a:ext cx="3020724" cy="2835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5" title="Moudenc_map_premier_tour.png"/>
            <p:cNvPicPr preferRelativeResize="0"/>
            <p:nvPr/>
          </p:nvPicPr>
          <p:blipFill rotWithShape="1">
            <a:blip r:embed="rId6">
              <a:alphaModFix/>
            </a:blip>
            <a:srcRect b="0" l="19474" r="19953" t="83139"/>
            <a:stretch/>
          </p:blipFill>
          <p:spPr>
            <a:xfrm>
              <a:off x="5841350" y="3459894"/>
              <a:ext cx="3020724" cy="7007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57275" l="0" r="0" t="29538"/>
          <a:stretch/>
        </p:blipFill>
        <p:spPr>
          <a:xfrm>
            <a:off x="6164038" y="4004902"/>
            <a:ext cx="2939150" cy="67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15"/>
          <p:cNvGrpSpPr/>
          <p:nvPr/>
        </p:nvGrpSpPr>
        <p:grpSpPr>
          <a:xfrm>
            <a:off x="-6" y="672950"/>
            <a:ext cx="3176909" cy="3347278"/>
            <a:chOff x="3146238" y="-1025107"/>
            <a:chExt cx="3805137" cy="4009196"/>
          </a:xfrm>
        </p:grpSpPr>
        <p:pic>
          <p:nvPicPr>
            <p:cNvPr id="82" name="Google Shape;82;p15" title="Vivre_mieux_Voix_map_premier_tour.png"/>
            <p:cNvPicPr preferRelativeResize="0"/>
            <p:nvPr/>
          </p:nvPicPr>
          <p:blipFill rotWithShape="1">
            <a:blip r:embed="rId7">
              <a:alphaModFix/>
            </a:blip>
            <a:srcRect b="31727" l="19646" r="18940" t="0"/>
            <a:stretch/>
          </p:blipFill>
          <p:spPr>
            <a:xfrm>
              <a:off x="3160775" y="-1025107"/>
              <a:ext cx="3790599" cy="351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5" title="Vivre_mieux_Voix_map_premier_tour.png"/>
            <p:cNvPicPr preferRelativeResize="0"/>
            <p:nvPr/>
          </p:nvPicPr>
          <p:blipFill rotWithShape="1">
            <a:blip r:embed="rId7">
              <a:alphaModFix/>
            </a:blip>
            <a:srcRect b="7183" l="19646" r="18940" t="83145"/>
            <a:stretch/>
          </p:blipFill>
          <p:spPr>
            <a:xfrm>
              <a:off x="3146238" y="2486614"/>
              <a:ext cx="3790599" cy="497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15"/>
          <p:cNvGrpSpPr/>
          <p:nvPr/>
        </p:nvGrpSpPr>
        <p:grpSpPr>
          <a:xfrm>
            <a:off x="3131705" y="674100"/>
            <a:ext cx="2989950" cy="3271754"/>
            <a:chOff x="2657300" y="0"/>
            <a:chExt cx="3658326" cy="4003125"/>
          </a:xfrm>
        </p:grpSpPr>
        <p:pic>
          <p:nvPicPr>
            <p:cNvPr id="85" name="Google Shape;85;p15" title="Piquemal_Voix_map_premier_tour.png"/>
            <p:cNvPicPr preferRelativeResize="0"/>
            <p:nvPr/>
          </p:nvPicPr>
          <p:blipFill rotWithShape="1">
            <a:blip r:embed="rId8">
              <a:alphaModFix/>
            </a:blip>
            <a:srcRect b="31722" l="20413" r="20318" t="0"/>
            <a:stretch/>
          </p:blipFill>
          <p:spPr>
            <a:xfrm>
              <a:off x="2657300" y="0"/>
              <a:ext cx="3658326" cy="351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5" title="Piquemal_Voix_map_premier_tour.png"/>
            <p:cNvPicPr preferRelativeResize="0"/>
            <p:nvPr/>
          </p:nvPicPr>
          <p:blipFill rotWithShape="1">
            <a:blip r:embed="rId8">
              <a:alphaModFix/>
            </a:blip>
            <a:srcRect b="6934" l="20413" r="20318" t="83512"/>
            <a:stretch/>
          </p:blipFill>
          <p:spPr>
            <a:xfrm>
              <a:off x="2657300" y="3511700"/>
              <a:ext cx="3658326" cy="491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" name="Google Shape;87;p15"/>
          <p:cNvGrpSpPr/>
          <p:nvPr/>
        </p:nvGrpSpPr>
        <p:grpSpPr>
          <a:xfrm>
            <a:off x="6164039" y="692725"/>
            <a:ext cx="2895776" cy="3136448"/>
            <a:chOff x="5448050" y="0"/>
            <a:chExt cx="3695949" cy="4003125"/>
          </a:xfrm>
        </p:grpSpPr>
        <p:pic>
          <p:nvPicPr>
            <p:cNvPr id="88" name="Google Shape;88;p15" title="Moudenc_Voix_map_premier_tour.png"/>
            <p:cNvPicPr preferRelativeResize="0"/>
            <p:nvPr/>
          </p:nvPicPr>
          <p:blipFill rotWithShape="1">
            <a:blip r:embed="rId9">
              <a:alphaModFix/>
            </a:blip>
            <a:srcRect b="31727" l="20317" r="19802" t="0"/>
            <a:stretch/>
          </p:blipFill>
          <p:spPr>
            <a:xfrm>
              <a:off x="5448050" y="0"/>
              <a:ext cx="3695949" cy="3511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5" title="Moudenc_Voix_map_premier_tour.png"/>
            <p:cNvPicPr preferRelativeResize="0"/>
            <p:nvPr/>
          </p:nvPicPr>
          <p:blipFill rotWithShape="1">
            <a:blip r:embed="rId9">
              <a:alphaModFix/>
            </a:blip>
            <a:srcRect b="7055" l="20317" r="19802" t="83391"/>
            <a:stretch/>
          </p:blipFill>
          <p:spPr>
            <a:xfrm>
              <a:off x="5448050" y="3511700"/>
              <a:ext cx="3695949" cy="4914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0" name="Google Shape;90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83681" l="0" r="0" t="0"/>
          <a:stretch/>
        </p:blipFill>
        <p:spPr>
          <a:xfrm>
            <a:off x="183500" y="3942775"/>
            <a:ext cx="2895775" cy="82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43499" l="0" r="0" t="43313"/>
          <a:stretch/>
        </p:blipFill>
        <p:spPr>
          <a:xfrm>
            <a:off x="3203038" y="4079229"/>
            <a:ext cx="2939150" cy="6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57321" l="0" r="0" t="29018"/>
          <a:stretch/>
        </p:blipFill>
        <p:spPr>
          <a:xfrm>
            <a:off x="6149875" y="4004903"/>
            <a:ext cx="2939150" cy="70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 title="scores_listes_premier_tour.png"/>
          <p:cNvPicPr preferRelativeResize="0"/>
          <p:nvPr/>
        </p:nvPicPr>
        <p:blipFill rotWithShape="1">
          <a:blip r:embed="rId3">
            <a:alphaModFix/>
          </a:blip>
          <a:srcRect b="0" l="0" r="0" t="96563"/>
          <a:stretch/>
        </p:blipFill>
        <p:spPr>
          <a:xfrm>
            <a:off x="118863" y="4749363"/>
            <a:ext cx="2939150" cy="1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 title="scores_listes_premier_tour.png"/>
          <p:cNvPicPr preferRelativeResize="0"/>
          <p:nvPr/>
        </p:nvPicPr>
        <p:blipFill rotWithShape="1">
          <a:blip r:embed="rId3">
            <a:alphaModFix/>
          </a:blip>
          <a:srcRect b="0" l="0" r="0" t="96563"/>
          <a:stretch/>
        </p:blipFill>
        <p:spPr>
          <a:xfrm>
            <a:off x="3131700" y="4749363"/>
            <a:ext cx="2939150" cy="1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 title="scores_listes_premier_tour.png"/>
          <p:cNvPicPr preferRelativeResize="0"/>
          <p:nvPr/>
        </p:nvPicPr>
        <p:blipFill rotWithShape="1">
          <a:blip r:embed="rId3">
            <a:alphaModFix/>
          </a:blip>
          <a:srcRect b="0" l="0" r="0" t="96563"/>
          <a:stretch/>
        </p:blipFill>
        <p:spPr>
          <a:xfrm>
            <a:off x="6164050" y="4712050"/>
            <a:ext cx="2939150" cy="1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0" l="0" r="0" t="96512"/>
          <a:stretch/>
        </p:blipFill>
        <p:spPr>
          <a:xfrm>
            <a:off x="235925" y="4745279"/>
            <a:ext cx="2895775" cy="1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0" l="0" r="0" t="96512"/>
          <a:stretch/>
        </p:blipFill>
        <p:spPr>
          <a:xfrm>
            <a:off x="3246425" y="4769159"/>
            <a:ext cx="2895775" cy="1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 title="scores_Voix_listes_premier_tour.png"/>
          <p:cNvPicPr preferRelativeResize="0"/>
          <p:nvPr/>
        </p:nvPicPr>
        <p:blipFill rotWithShape="1">
          <a:blip r:embed="rId10">
            <a:alphaModFix/>
          </a:blip>
          <a:srcRect b="0" l="0" r="0" t="96512"/>
          <a:stretch/>
        </p:blipFill>
        <p:spPr>
          <a:xfrm>
            <a:off x="6248225" y="4749384"/>
            <a:ext cx="2895775" cy="17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 que l’on sait déjà (Second Tour)</a:t>
            </a:r>
            <a:endParaRPr/>
          </a:p>
        </p:txBody>
      </p:sp>
      <p:pic>
        <p:nvPicPr>
          <p:cNvPr id="104" name="Google Shape;104;p16" title="scores_listes_second_tour.png"/>
          <p:cNvPicPr preferRelativeResize="0"/>
          <p:nvPr/>
        </p:nvPicPr>
        <p:blipFill rotWithShape="1">
          <a:blip r:embed="rId3">
            <a:alphaModFix/>
          </a:blip>
          <a:srcRect b="0" l="0" r="0" t="50335"/>
          <a:stretch/>
        </p:blipFill>
        <p:spPr>
          <a:xfrm>
            <a:off x="4910200" y="4054442"/>
            <a:ext cx="4077925" cy="10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 b="49970" l="0" r="0" t="7371"/>
          <a:stretch/>
        </p:blipFill>
        <p:spPr>
          <a:xfrm>
            <a:off x="211075" y="4018825"/>
            <a:ext cx="4103200" cy="875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16"/>
          <p:cNvGrpSpPr/>
          <p:nvPr/>
        </p:nvGrpSpPr>
        <p:grpSpPr>
          <a:xfrm>
            <a:off x="5142490" y="533849"/>
            <a:ext cx="3845304" cy="3412060"/>
            <a:chOff x="5520875" y="629750"/>
            <a:chExt cx="3197226" cy="2837000"/>
          </a:xfrm>
        </p:grpSpPr>
        <p:pic>
          <p:nvPicPr>
            <p:cNvPr id="107" name="Google Shape;107;p16" title="Moudenc_Voix_map_deuxieme_tour.png"/>
            <p:cNvPicPr preferRelativeResize="0"/>
            <p:nvPr/>
          </p:nvPicPr>
          <p:blipFill rotWithShape="1">
            <a:blip r:embed="rId4">
              <a:alphaModFix/>
            </a:blip>
            <a:srcRect b="32093" l="13195" r="13210" t="0"/>
            <a:stretch/>
          </p:blipFill>
          <p:spPr>
            <a:xfrm>
              <a:off x="5520875" y="629750"/>
              <a:ext cx="3197226" cy="245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6" title="Moudenc_Voix_map_deuxieme_tour.png"/>
            <p:cNvPicPr preferRelativeResize="0"/>
            <p:nvPr/>
          </p:nvPicPr>
          <p:blipFill rotWithShape="1">
            <a:blip r:embed="rId4">
              <a:alphaModFix/>
            </a:blip>
            <a:srcRect b="6385" l="13195" r="13210" t="83154"/>
            <a:stretch/>
          </p:blipFill>
          <p:spPr>
            <a:xfrm>
              <a:off x="5520875" y="3088050"/>
              <a:ext cx="3197226" cy="378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6"/>
          <p:cNvGrpSpPr/>
          <p:nvPr/>
        </p:nvGrpSpPr>
        <p:grpSpPr>
          <a:xfrm>
            <a:off x="1016915" y="644254"/>
            <a:ext cx="3078086" cy="3301640"/>
            <a:chOff x="849375" y="845125"/>
            <a:chExt cx="2232600" cy="2394575"/>
          </a:xfrm>
        </p:grpSpPr>
        <p:pic>
          <p:nvPicPr>
            <p:cNvPr id="110" name="Google Shape;110;p16" title="Gauche_unie_Voix_map_deuxieme_tour.png"/>
            <p:cNvPicPr preferRelativeResize="0"/>
            <p:nvPr/>
          </p:nvPicPr>
          <p:blipFill rotWithShape="1">
            <a:blip r:embed="rId5">
              <a:alphaModFix/>
            </a:blip>
            <a:srcRect b="31792" l="19224" r="19200" t="0"/>
            <a:stretch/>
          </p:blipFill>
          <p:spPr>
            <a:xfrm>
              <a:off x="849375" y="845125"/>
              <a:ext cx="2232600" cy="2060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6" title="Gauche_unie_Voix_map_deuxieme_tour.png"/>
            <p:cNvPicPr preferRelativeResize="0"/>
            <p:nvPr/>
          </p:nvPicPr>
          <p:blipFill rotWithShape="1">
            <a:blip r:embed="rId5">
              <a:alphaModFix/>
            </a:blip>
            <a:srcRect b="6288" l="19224" r="19200" t="82668"/>
            <a:stretch/>
          </p:blipFill>
          <p:spPr>
            <a:xfrm>
              <a:off x="849375" y="2906025"/>
              <a:ext cx="2232600" cy="333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L’abstention</a:t>
            </a:r>
            <a:endParaRPr/>
          </a:p>
        </p:txBody>
      </p:sp>
      <p:grpSp>
        <p:nvGrpSpPr>
          <p:cNvPr id="117" name="Google Shape;117;p17"/>
          <p:cNvGrpSpPr/>
          <p:nvPr/>
        </p:nvGrpSpPr>
        <p:grpSpPr>
          <a:xfrm>
            <a:off x="-9" y="747249"/>
            <a:ext cx="3185440" cy="3361954"/>
            <a:chOff x="2022150" y="-30050"/>
            <a:chExt cx="3759075" cy="3967375"/>
          </a:xfrm>
        </p:grpSpPr>
        <p:pic>
          <p:nvPicPr>
            <p:cNvPr id="118" name="Google Shape;118;p17" title="Abstentions_map_premier_tour.png"/>
            <p:cNvPicPr preferRelativeResize="0"/>
            <p:nvPr/>
          </p:nvPicPr>
          <p:blipFill rotWithShape="1">
            <a:blip r:embed="rId3">
              <a:alphaModFix/>
            </a:blip>
            <a:srcRect b="31977" l="20043" r="19056" t="0"/>
            <a:stretch/>
          </p:blipFill>
          <p:spPr>
            <a:xfrm>
              <a:off x="2022150" y="-30050"/>
              <a:ext cx="3759075" cy="349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7" title="Abstentions_map_premier_tour.png"/>
            <p:cNvPicPr preferRelativeResize="0"/>
            <p:nvPr/>
          </p:nvPicPr>
          <p:blipFill rotWithShape="1">
            <a:blip r:embed="rId3">
              <a:alphaModFix/>
            </a:blip>
            <a:srcRect b="7318" l="20043" r="19056" t="83571"/>
            <a:stretch/>
          </p:blipFill>
          <p:spPr>
            <a:xfrm>
              <a:off x="2022150" y="3468725"/>
              <a:ext cx="3759075" cy="46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" name="Google Shape;120;p17"/>
          <p:cNvGrpSpPr/>
          <p:nvPr/>
        </p:nvGrpSpPr>
        <p:grpSpPr>
          <a:xfrm>
            <a:off x="5932018" y="766296"/>
            <a:ext cx="3211986" cy="3432856"/>
            <a:chOff x="5932018" y="766296"/>
            <a:chExt cx="3211986" cy="3432856"/>
          </a:xfrm>
        </p:grpSpPr>
        <p:grpSp>
          <p:nvGrpSpPr>
            <p:cNvPr id="121" name="Google Shape;121;p17"/>
            <p:cNvGrpSpPr/>
            <p:nvPr/>
          </p:nvGrpSpPr>
          <p:grpSpPr>
            <a:xfrm>
              <a:off x="5932018" y="766296"/>
              <a:ext cx="3211986" cy="3323852"/>
              <a:chOff x="1130775" y="845125"/>
              <a:chExt cx="3005226" cy="3109891"/>
            </a:xfrm>
          </p:grpSpPr>
          <p:pic>
            <p:nvPicPr>
              <p:cNvPr id="122" name="Google Shape;122;p17" title="Abstentions_map_deuxieme_tour.png"/>
              <p:cNvPicPr preferRelativeResize="0"/>
              <p:nvPr/>
            </p:nvPicPr>
            <p:blipFill rotWithShape="1">
              <a:blip r:embed="rId4">
                <a:alphaModFix/>
              </a:blip>
              <a:srcRect b="32300" l="19668" r="19928" t="0"/>
              <a:stretch/>
            </p:blipFill>
            <p:spPr>
              <a:xfrm>
                <a:off x="1130775" y="845125"/>
                <a:ext cx="3005226" cy="28069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3" name="Google Shape;123;p17" title="Abstentions_map_deuxieme_tour.png"/>
              <p:cNvPicPr preferRelativeResize="0"/>
              <p:nvPr/>
            </p:nvPicPr>
            <p:blipFill rotWithShape="1">
              <a:blip r:embed="rId4">
                <a:alphaModFix/>
              </a:blip>
              <a:srcRect b="9636" l="19668" r="19928" t="83058"/>
              <a:stretch/>
            </p:blipFill>
            <p:spPr>
              <a:xfrm>
                <a:off x="1130782" y="3652106"/>
                <a:ext cx="3005217" cy="3029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4" name="Google Shape;124;p17" title="Abstentions_map_premier_tour.png"/>
            <p:cNvPicPr preferRelativeResize="0"/>
            <p:nvPr/>
          </p:nvPicPr>
          <p:blipFill rotWithShape="1">
            <a:blip r:embed="rId3">
              <a:alphaModFix/>
            </a:blip>
            <a:srcRect b="7319" l="20043" r="19056" t="90181"/>
            <a:stretch/>
          </p:blipFill>
          <p:spPr>
            <a:xfrm>
              <a:off x="5932025" y="4090152"/>
              <a:ext cx="3185424" cy="10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7"/>
          <p:cNvGrpSpPr/>
          <p:nvPr/>
        </p:nvGrpSpPr>
        <p:grpSpPr>
          <a:xfrm>
            <a:off x="2175063" y="87128"/>
            <a:ext cx="4614955" cy="5002580"/>
            <a:chOff x="2689400" y="87100"/>
            <a:chExt cx="3692850" cy="4003025"/>
          </a:xfrm>
        </p:grpSpPr>
        <p:pic>
          <p:nvPicPr>
            <p:cNvPr id="126" name="Google Shape;126;p17" title="Delta_Abstention_map.png"/>
            <p:cNvPicPr preferRelativeResize="0"/>
            <p:nvPr/>
          </p:nvPicPr>
          <p:blipFill rotWithShape="1">
            <a:blip r:embed="rId5">
              <a:alphaModFix/>
            </a:blip>
            <a:srcRect b="31973" l="20294" r="19876" t="0"/>
            <a:stretch/>
          </p:blipFill>
          <p:spPr>
            <a:xfrm>
              <a:off x="2689400" y="87100"/>
              <a:ext cx="3692850" cy="349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7" title="Delta_Abstention_map.png"/>
            <p:cNvPicPr preferRelativeResize="0"/>
            <p:nvPr/>
          </p:nvPicPr>
          <p:blipFill rotWithShape="1">
            <a:blip r:embed="rId5">
              <a:alphaModFix/>
            </a:blip>
            <a:srcRect b="6821" l="20294" r="19876" t="83375"/>
            <a:stretch/>
          </p:blipFill>
          <p:spPr>
            <a:xfrm>
              <a:off x="2689400" y="3585875"/>
              <a:ext cx="3692850" cy="5042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8" name="Google Shape;128;p17" title="Taux_participation_premier_tour.png"/>
          <p:cNvPicPr preferRelativeResize="0"/>
          <p:nvPr/>
        </p:nvPicPr>
        <p:blipFill rotWithShape="1">
          <a:blip r:embed="rId6">
            <a:alphaModFix/>
          </a:blip>
          <a:srcRect b="0" l="0" r="0" t="49262"/>
          <a:stretch/>
        </p:blipFill>
        <p:spPr>
          <a:xfrm>
            <a:off x="6074259" y="4274850"/>
            <a:ext cx="2980492" cy="756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17"/>
          <p:cNvGrpSpPr/>
          <p:nvPr/>
        </p:nvGrpSpPr>
        <p:grpSpPr>
          <a:xfrm>
            <a:off x="-13275" y="4274850"/>
            <a:ext cx="3211978" cy="816008"/>
            <a:chOff x="-13275" y="4274850"/>
            <a:chExt cx="3211978" cy="816008"/>
          </a:xfrm>
        </p:grpSpPr>
        <p:pic>
          <p:nvPicPr>
            <p:cNvPr id="130" name="Google Shape;130;p17" title="Taux_participation_premier_tour.png"/>
            <p:cNvPicPr preferRelativeResize="0"/>
            <p:nvPr/>
          </p:nvPicPr>
          <p:blipFill rotWithShape="1">
            <a:blip r:embed="rId6">
              <a:alphaModFix/>
            </a:blip>
            <a:srcRect b="50491" l="0" r="0" t="8089"/>
            <a:stretch/>
          </p:blipFill>
          <p:spPr>
            <a:xfrm>
              <a:off x="-13272" y="4274850"/>
              <a:ext cx="3211975" cy="6651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17" title="Taux_participation_premier_tour.png"/>
            <p:cNvPicPr preferRelativeResize="0"/>
            <p:nvPr/>
          </p:nvPicPr>
          <p:blipFill rotWithShape="1">
            <a:blip r:embed="rId6">
              <a:alphaModFix/>
            </a:blip>
            <a:srcRect b="-1" l="0" r="0" t="87464"/>
            <a:stretch/>
          </p:blipFill>
          <p:spPr>
            <a:xfrm>
              <a:off x="-13275" y="4889508"/>
              <a:ext cx="3211975" cy="201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Augmentation voix Moudenc</a:t>
            </a:r>
            <a:endParaRPr/>
          </a:p>
        </p:txBody>
      </p:sp>
      <p:grpSp>
        <p:nvGrpSpPr>
          <p:cNvPr id="137" name="Google Shape;137;p18"/>
          <p:cNvGrpSpPr/>
          <p:nvPr/>
        </p:nvGrpSpPr>
        <p:grpSpPr>
          <a:xfrm>
            <a:off x="311778" y="692748"/>
            <a:ext cx="3881630" cy="4218266"/>
            <a:chOff x="2908225" y="816950"/>
            <a:chExt cx="2992776" cy="3252325"/>
          </a:xfrm>
        </p:grpSpPr>
        <p:pic>
          <p:nvPicPr>
            <p:cNvPr id="138" name="Google Shape;138;p18" title="Delta_droite_map.png"/>
            <p:cNvPicPr preferRelativeResize="0"/>
            <p:nvPr/>
          </p:nvPicPr>
          <p:blipFill rotWithShape="1">
            <a:blip r:embed="rId3">
              <a:alphaModFix/>
            </a:blip>
            <a:srcRect b="31885" l="19935" r="19911" t="0"/>
            <a:stretch/>
          </p:blipFill>
          <p:spPr>
            <a:xfrm>
              <a:off x="2908225" y="816950"/>
              <a:ext cx="2992776" cy="2823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8" title="Delta_droite_map.png"/>
            <p:cNvPicPr preferRelativeResize="0"/>
            <p:nvPr/>
          </p:nvPicPr>
          <p:blipFill rotWithShape="1">
            <a:blip r:embed="rId3">
              <a:alphaModFix/>
            </a:blip>
            <a:srcRect b="6734" l="19935" r="19911" t="82933"/>
            <a:stretch/>
          </p:blipFill>
          <p:spPr>
            <a:xfrm>
              <a:off x="2908225" y="3640925"/>
              <a:ext cx="2992776" cy="428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18"/>
          <p:cNvGrpSpPr/>
          <p:nvPr/>
        </p:nvGrpSpPr>
        <p:grpSpPr>
          <a:xfrm>
            <a:off x="4775647" y="564948"/>
            <a:ext cx="4009327" cy="4346084"/>
            <a:chOff x="2689400" y="87100"/>
            <a:chExt cx="3692850" cy="4003025"/>
          </a:xfrm>
        </p:grpSpPr>
        <p:pic>
          <p:nvPicPr>
            <p:cNvPr id="141" name="Google Shape;141;p18" title="Delta_Abstention_map.png"/>
            <p:cNvPicPr preferRelativeResize="0"/>
            <p:nvPr/>
          </p:nvPicPr>
          <p:blipFill rotWithShape="1">
            <a:blip r:embed="rId4">
              <a:alphaModFix/>
            </a:blip>
            <a:srcRect b="31973" l="20294" r="19876" t="0"/>
            <a:stretch/>
          </p:blipFill>
          <p:spPr>
            <a:xfrm>
              <a:off x="2689400" y="87100"/>
              <a:ext cx="3692850" cy="349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8" title="Delta_Abstention_map.png"/>
            <p:cNvPicPr preferRelativeResize="0"/>
            <p:nvPr/>
          </p:nvPicPr>
          <p:blipFill rotWithShape="1">
            <a:blip r:embed="rId4">
              <a:alphaModFix/>
            </a:blip>
            <a:srcRect b="6821" l="20294" r="19876" t="83375"/>
            <a:stretch/>
          </p:blipFill>
          <p:spPr>
            <a:xfrm>
              <a:off x="2689400" y="3585875"/>
              <a:ext cx="3692850" cy="504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Augmentation voix Moudenc</a:t>
            </a:r>
            <a:endParaRPr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311700" y="779775"/>
            <a:ext cx="8520600" cy="41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Nombre de Votant Moudenc au second tour = Somme de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Nombre de Votant Moudenc au premier tour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Report voix partis de droite/centre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Surmobilisation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Non expliqué (Report de la gauche vers Moudenc 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Non expliqué (Report de la gauche vers Moudenc) = Nombre de Votant Moudenc au second tour -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Nombre de Votant Moudenc au premier tour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Report voix partis de droite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Surmobilisation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Augmentation voix Moudenc</a:t>
            </a:r>
            <a:endParaRPr/>
          </a:p>
        </p:txBody>
      </p:sp>
      <p:grpSp>
        <p:nvGrpSpPr>
          <p:cNvPr id="154" name="Google Shape;154;p20"/>
          <p:cNvGrpSpPr/>
          <p:nvPr/>
        </p:nvGrpSpPr>
        <p:grpSpPr>
          <a:xfrm>
            <a:off x="135242" y="754927"/>
            <a:ext cx="4007160" cy="4251963"/>
            <a:chOff x="1127225" y="845125"/>
            <a:chExt cx="3049125" cy="3235400"/>
          </a:xfrm>
        </p:grpSpPr>
        <p:pic>
          <p:nvPicPr>
            <p:cNvPr id="155" name="Google Shape;155;p20" title="report_gauche_a_moudenc.png"/>
            <p:cNvPicPr preferRelativeResize="0"/>
            <p:nvPr/>
          </p:nvPicPr>
          <p:blipFill rotWithShape="1">
            <a:blip r:embed="rId3">
              <a:alphaModFix/>
            </a:blip>
            <a:srcRect b="31885" l="19593" r="19121" t="0"/>
            <a:stretch/>
          </p:blipFill>
          <p:spPr>
            <a:xfrm>
              <a:off x="1127225" y="845125"/>
              <a:ext cx="3049125" cy="2823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0" title="report_gauche_a_moudenc.png"/>
            <p:cNvPicPr preferRelativeResize="0"/>
            <p:nvPr/>
          </p:nvPicPr>
          <p:blipFill rotWithShape="1">
            <a:blip r:embed="rId3">
              <a:alphaModFix/>
            </a:blip>
            <a:srcRect b="6733" l="19593" r="19121" t="83343"/>
            <a:stretch/>
          </p:blipFill>
          <p:spPr>
            <a:xfrm>
              <a:off x="1127225" y="3669100"/>
              <a:ext cx="3049125" cy="411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20"/>
          <p:cNvGrpSpPr/>
          <p:nvPr/>
        </p:nvGrpSpPr>
        <p:grpSpPr>
          <a:xfrm>
            <a:off x="4951770" y="732323"/>
            <a:ext cx="4088902" cy="4369104"/>
            <a:chOff x="5251100" y="845125"/>
            <a:chExt cx="2842674" cy="3037475"/>
          </a:xfrm>
        </p:grpSpPr>
        <p:pic>
          <p:nvPicPr>
            <p:cNvPr id="158" name="Google Shape;158;p20" title="importance_participation_a_moudenc.png"/>
            <p:cNvPicPr preferRelativeResize="0"/>
            <p:nvPr/>
          </p:nvPicPr>
          <p:blipFill rotWithShape="1">
            <a:blip r:embed="rId4">
              <a:alphaModFix/>
            </a:blip>
            <a:srcRect b="31689" l="19783" r="19253" t="0"/>
            <a:stretch/>
          </p:blipFill>
          <p:spPr>
            <a:xfrm>
              <a:off x="5251100" y="845125"/>
              <a:ext cx="2842674" cy="265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0" title="importance_participation_a_moudenc.png"/>
            <p:cNvPicPr preferRelativeResize="0"/>
            <p:nvPr/>
          </p:nvPicPr>
          <p:blipFill rotWithShape="1">
            <a:blip r:embed="rId4">
              <a:alphaModFix/>
            </a:blip>
            <a:srcRect b="6933" l="19783" r="19253" t="83208"/>
            <a:stretch/>
          </p:blipFill>
          <p:spPr>
            <a:xfrm>
              <a:off x="5251100" y="3499525"/>
              <a:ext cx="2842674" cy="383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</a:t>
            </a:r>
            <a:endParaRPr/>
          </a:p>
        </p:txBody>
      </p:sp>
      <p:grpSp>
        <p:nvGrpSpPr>
          <p:cNvPr id="165" name="Google Shape;165;p21"/>
          <p:cNvGrpSpPr/>
          <p:nvPr/>
        </p:nvGrpSpPr>
        <p:grpSpPr>
          <a:xfrm>
            <a:off x="115700" y="692737"/>
            <a:ext cx="4054586" cy="4316954"/>
            <a:chOff x="1094575" y="845125"/>
            <a:chExt cx="3041700" cy="3238525"/>
          </a:xfrm>
        </p:grpSpPr>
        <p:pic>
          <p:nvPicPr>
            <p:cNvPr id="166" name="Google Shape;166;p21" title="Delta_gauche_voix_map.png"/>
            <p:cNvPicPr preferRelativeResize="0"/>
            <p:nvPr/>
          </p:nvPicPr>
          <p:blipFill rotWithShape="1">
            <a:blip r:embed="rId3">
              <a:alphaModFix/>
            </a:blip>
            <a:srcRect b="31913" l="18941" r="19919" t="0"/>
            <a:stretch/>
          </p:blipFill>
          <p:spPr>
            <a:xfrm>
              <a:off x="1094575" y="845125"/>
              <a:ext cx="3041700" cy="282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1" title="Delta_gauche_voix_map.png"/>
            <p:cNvPicPr preferRelativeResize="0"/>
            <p:nvPr/>
          </p:nvPicPr>
          <p:blipFill rotWithShape="1">
            <a:blip r:embed="rId3">
              <a:alphaModFix/>
            </a:blip>
            <a:srcRect b="7287" l="18941" r="19919" t="82685"/>
            <a:stretch/>
          </p:blipFill>
          <p:spPr>
            <a:xfrm>
              <a:off x="1094575" y="3667925"/>
              <a:ext cx="3041700" cy="415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21"/>
          <p:cNvGrpSpPr/>
          <p:nvPr/>
        </p:nvGrpSpPr>
        <p:grpSpPr>
          <a:xfrm>
            <a:off x="4765122" y="633348"/>
            <a:ext cx="4009327" cy="4346084"/>
            <a:chOff x="2689400" y="87100"/>
            <a:chExt cx="3692850" cy="4003025"/>
          </a:xfrm>
        </p:grpSpPr>
        <p:pic>
          <p:nvPicPr>
            <p:cNvPr id="169" name="Google Shape;169;p21" title="Delta_Abstention_map.png"/>
            <p:cNvPicPr preferRelativeResize="0"/>
            <p:nvPr/>
          </p:nvPicPr>
          <p:blipFill rotWithShape="1">
            <a:blip r:embed="rId4">
              <a:alphaModFix/>
            </a:blip>
            <a:srcRect b="31973" l="20294" r="19876" t="0"/>
            <a:stretch/>
          </p:blipFill>
          <p:spPr>
            <a:xfrm>
              <a:off x="2689400" y="87100"/>
              <a:ext cx="3692850" cy="3498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1" title="Delta_Abstention_map.png"/>
            <p:cNvPicPr preferRelativeResize="0"/>
            <p:nvPr/>
          </p:nvPicPr>
          <p:blipFill rotWithShape="1">
            <a:blip r:embed="rId4">
              <a:alphaModFix/>
            </a:blip>
            <a:srcRect b="6821" l="20294" r="19876" t="83375"/>
            <a:stretch/>
          </p:blipFill>
          <p:spPr>
            <a:xfrm>
              <a:off x="2689400" y="3585875"/>
              <a:ext cx="3692850" cy="504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</a:t>
            </a:r>
            <a:endParaRPr/>
          </a:p>
        </p:txBody>
      </p:sp>
      <p:grpSp>
        <p:nvGrpSpPr>
          <p:cNvPr id="176" name="Google Shape;176;p22"/>
          <p:cNvGrpSpPr/>
          <p:nvPr/>
        </p:nvGrpSpPr>
        <p:grpSpPr>
          <a:xfrm>
            <a:off x="110451" y="692732"/>
            <a:ext cx="4091634" cy="3675724"/>
            <a:chOff x="1115625" y="-266825"/>
            <a:chExt cx="4467825" cy="4013675"/>
          </a:xfrm>
        </p:grpSpPr>
        <p:pic>
          <p:nvPicPr>
            <p:cNvPr id="177" name="Google Shape;177;p22" title="Nuls_blancs_map_premier_tour.png"/>
            <p:cNvPicPr preferRelativeResize="0"/>
            <p:nvPr/>
          </p:nvPicPr>
          <p:blipFill rotWithShape="1">
            <a:blip r:embed="rId3">
              <a:alphaModFix/>
            </a:blip>
            <a:srcRect b="31685" l="14021" r="13594" t="0"/>
            <a:stretch/>
          </p:blipFill>
          <p:spPr>
            <a:xfrm>
              <a:off x="1115625" y="-266825"/>
              <a:ext cx="4467825" cy="3513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2" title="Nuls_blancs_map_premier_tour.png"/>
            <p:cNvPicPr preferRelativeResize="0"/>
            <p:nvPr/>
          </p:nvPicPr>
          <p:blipFill rotWithShape="1">
            <a:blip r:embed="rId3">
              <a:alphaModFix/>
            </a:blip>
            <a:srcRect b="6925" l="14021" r="13594" t="83355"/>
            <a:stretch/>
          </p:blipFill>
          <p:spPr>
            <a:xfrm>
              <a:off x="1115625" y="3246925"/>
              <a:ext cx="4467825" cy="499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9" name="Google Shape;179;p22"/>
          <p:cNvGrpSpPr/>
          <p:nvPr/>
        </p:nvGrpSpPr>
        <p:grpSpPr>
          <a:xfrm>
            <a:off x="522348" y="4368558"/>
            <a:ext cx="3328192" cy="744667"/>
            <a:chOff x="230900" y="4398825"/>
            <a:chExt cx="3671475" cy="821475"/>
          </a:xfrm>
        </p:grpSpPr>
        <p:pic>
          <p:nvPicPr>
            <p:cNvPr id="180" name="Google Shape;180;p22" title="Votes_blancs_nuls_premier_tour.png"/>
            <p:cNvPicPr preferRelativeResize="0"/>
            <p:nvPr/>
          </p:nvPicPr>
          <p:blipFill rotWithShape="1">
            <a:blip r:embed="rId4">
              <a:alphaModFix/>
            </a:blip>
            <a:srcRect b="50848" l="0" r="0" t="13462"/>
            <a:stretch/>
          </p:blipFill>
          <p:spPr>
            <a:xfrm>
              <a:off x="230900" y="4398825"/>
              <a:ext cx="3671475" cy="655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2" title="Votes_blancs_nuls_premier_tour.png"/>
            <p:cNvPicPr preferRelativeResize="0"/>
            <p:nvPr/>
          </p:nvPicPr>
          <p:blipFill rotWithShape="1">
            <a:blip r:embed="rId4">
              <a:alphaModFix/>
            </a:blip>
            <a:srcRect b="0" l="1440" r="-1440" t="87828"/>
            <a:stretch/>
          </p:blipFill>
          <p:spPr>
            <a:xfrm>
              <a:off x="230900" y="4996850"/>
              <a:ext cx="3671475" cy="223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" name="Google Shape;182;p22"/>
          <p:cNvGrpSpPr/>
          <p:nvPr/>
        </p:nvGrpSpPr>
        <p:grpSpPr>
          <a:xfrm>
            <a:off x="4936140" y="692766"/>
            <a:ext cx="4025905" cy="3675634"/>
            <a:chOff x="5412625" y="799775"/>
            <a:chExt cx="2328324" cy="2125750"/>
          </a:xfrm>
        </p:grpSpPr>
        <p:pic>
          <p:nvPicPr>
            <p:cNvPr id="183" name="Google Shape;183;p22" title="Nuls_blancs_map_second_tour.png"/>
            <p:cNvPicPr preferRelativeResize="0"/>
            <p:nvPr/>
          </p:nvPicPr>
          <p:blipFill rotWithShape="1">
            <a:blip r:embed="rId5">
              <a:alphaModFix/>
            </a:blip>
            <a:srcRect b="31675" l="13988" r="14496" t="0"/>
            <a:stretch/>
          </p:blipFill>
          <p:spPr>
            <a:xfrm>
              <a:off x="5412625" y="799775"/>
              <a:ext cx="2328324" cy="185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2" title="Nuls_blancs_map_second_tour.png"/>
            <p:cNvPicPr preferRelativeResize="0"/>
            <p:nvPr/>
          </p:nvPicPr>
          <p:blipFill rotWithShape="1">
            <a:blip r:embed="rId5">
              <a:alphaModFix/>
            </a:blip>
            <a:srcRect b="7159" l="13988" r="14496" t="82811"/>
            <a:stretch/>
          </p:blipFill>
          <p:spPr>
            <a:xfrm>
              <a:off x="5412625" y="2653400"/>
              <a:ext cx="2328324" cy="2721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5" name="Google Shape;185;p22" title="Votes_blancs_nuls_premier_tour.png"/>
          <p:cNvPicPr preferRelativeResize="0"/>
          <p:nvPr/>
        </p:nvPicPr>
        <p:blipFill rotWithShape="1">
          <a:blip r:embed="rId4">
            <a:alphaModFix/>
          </a:blip>
          <a:srcRect b="-1851" l="0" r="0" t="55235"/>
          <a:stretch/>
        </p:blipFill>
        <p:spPr>
          <a:xfrm>
            <a:off x="5285000" y="4353025"/>
            <a:ext cx="3328200" cy="77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22"/>
          <p:cNvGrpSpPr/>
          <p:nvPr/>
        </p:nvGrpSpPr>
        <p:grpSpPr>
          <a:xfrm>
            <a:off x="2638156" y="746909"/>
            <a:ext cx="3568008" cy="4229162"/>
            <a:chOff x="2744100" y="-273650"/>
            <a:chExt cx="3394224" cy="4023175"/>
          </a:xfrm>
        </p:grpSpPr>
        <p:pic>
          <p:nvPicPr>
            <p:cNvPr id="187" name="Google Shape;187;p22" title="Delta_blc_nuls_map.png"/>
            <p:cNvPicPr preferRelativeResize="0"/>
            <p:nvPr/>
          </p:nvPicPr>
          <p:blipFill rotWithShape="1">
            <a:blip r:embed="rId6">
              <a:alphaModFix/>
            </a:blip>
            <a:srcRect b="31917" l="22321" r="22689" t="0"/>
            <a:stretch/>
          </p:blipFill>
          <p:spPr>
            <a:xfrm>
              <a:off x="2744100" y="-273650"/>
              <a:ext cx="3394224" cy="350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2" title="Delta_blc_nuls_map.png"/>
            <p:cNvPicPr preferRelativeResize="0"/>
            <p:nvPr/>
          </p:nvPicPr>
          <p:blipFill rotWithShape="1">
            <a:blip r:embed="rId6">
              <a:alphaModFix/>
            </a:blip>
            <a:srcRect b="6787" l="22321" r="22689" t="83072"/>
            <a:stretch/>
          </p:blipFill>
          <p:spPr>
            <a:xfrm>
              <a:off x="2744100" y="3227925"/>
              <a:ext cx="3394224" cy="521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</a:t>
            </a:r>
            <a:endParaRPr/>
          </a:p>
        </p:txBody>
      </p:sp>
      <p:grpSp>
        <p:nvGrpSpPr>
          <p:cNvPr id="194" name="Google Shape;194;p23"/>
          <p:cNvGrpSpPr/>
          <p:nvPr/>
        </p:nvGrpSpPr>
        <p:grpSpPr>
          <a:xfrm>
            <a:off x="5306656" y="692734"/>
            <a:ext cx="3568008" cy="4229162"/>
            <a:chOff x="2744100" y="-273650"/>
            <a:chExt cx="3394224" cy="4023175"/>
          </a:xfrm>
        </p:grpSpPr>
        <p:pic>
          <p:nvPicPr>
            <p:cNvPr id="195" name="Google Shape;195;p23" title="Delta_blc_nuls_map.png"/>
            <p:cNvPicPr preferRelativeResize="0"/>
            <p:nvPr/>
          </p:nvPicPr>
          <p:blipFill rotWithShape="1">
            <a:blip r:embed="rId3">
              <a:alphaModFix/>
            </a:blip>
            <a:srcRect b="31917" l="22321" r="22689" t="0"/>
            <a:stretch/>
          </p:blipFill>
          <p:spPr>
            <a:xfrm>
              <a:off x="2744100" y="-273650"/>
              <a:ext cx="3394224" cy="350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3" title="Delta_blc_nuls_map.png"/>
            <p:cNvPicPr preferRelativeResize="0"/>
            <p:nvPr/>
          </p:nvPicPr>
          <p:blipFill rotWithShape="1">
            <a:blip r:embed="rId3">
              <a:alphaModFix/>
            </a:blip>
            <a:srcRect b="6787" l="22321" r="22689" t="83072"/>
            <a:stretch/>
          </p:blipFill>
          <p:spPr>
            <a:xfrm>
              <a:off x="2744100" y="3227925"/>
              <a:ext cx="3394224" cy="52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23"/>
          <p:cNvGrpSpPr/>
          <p:nvPr/>
        </p:nvGrpSpPr>
        <p:grpSpPr>
          <a:xfrm>
            <a:off x="115700" y="692737"/>
            <a:ext cx="4054586" cy="4316954"/>
            <a:chOff x="1094575" y="845125"/>
            <a:chExt cx="3041700" cy="3238525"/>
          </a:xfrm>
        </p:grpSpPr>
        <p:pic>
          <p:nvPicPr>
            <p:cNvPr id="198" name="Google Shape;198;p23" title="Delta_gauche_voix_map.png"/>
            <p:cNvPicPr preferRelativeResize="0"/>
            <p:nvPr/>
          </p:nvPicPr>
          <p:blipFill rotWithShape="1">
            <a:blip r:embed="rId4">
              <a:alphaModFix/>
            </a:blip>
            <a:srcRect b="31913" l="18941" r="19919" t="0"/>
            <a:stretch/>
          </p:blipFill>
          <p:spPr>
            <a:xfrm>
              <a:off x="1094575" y="845125"/>
              <a:ext cx="3041700" cy="282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3" title="Delta_gauche_voix_map.png"/>
            <p:cNvPicPr preferRelativeResize="0"/>
            <p:nvPr/>
          </p:nvPicPr>
          <p:blipFill rotWithShape="1">
            <a:blip r:embed="rId4">
              <a:alphaModFix/>
            </a:blip>
            <a:srcRect b="7287" l="18941" r="19919" t="82685"/>
            <a:stretch/>
          </p:blipFill>
          <p:spPr>
            <a:xfrm>
              <a:off x="1094575" y="3667925"/>
              <a:ext cx="3041700" cy="415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</a:t>
            </a:r>
            <a:endParaRPr/>
          </a:p>
        </p:txBody>
      </p:sp>
      <p:grpSp>
        <p:nvGrpSpPr>
          <p:cNvPr id="205" name="Google Shape;205;p24"/>
          <p:cNvGrpSpPr/>
          <p:nvPr/>
        </p:nvGrpSpPr>
        <p:grpSpPr>
          <a:xfrm>
            <a:off x="249516" y="784694"/>
            <a:ext cx="3976222" cy="4151073"/>
            <a:chOff x="1058325" y="845125"/>
            <a:chExt cx="3129651" cy="3267275"/>
          </a:xfrm>
        </p:grpSpPr>
        <p:pic>
          <p:nvPicPr>
            <p:cNvPr id="206" name="Google Shape;206;p24" title="fuite_de_voix_map.png"/>
            <p:cNvPicPr preferRelativeResize="0"/>
            <p:nvPr/>
          </p:nvPicPr>
          <p:blipFill rotWithShape="1">
            <a:blip r:embed="rId3">
              <a:alphaModFix/>
            </a:blip>
            <a:srcRect b="31954" l="18211" r="18884" t="0"/>
            <a:stretch/>
          </p:blipFill>
          <p:spPr>
            <a:xfrm>
              <a:off x="1058325" y="845125"/>
              <a:ext cx="3129651" cy="2821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4" title="fuite_de_voix_map.png"/>
            <p:cNvPicPr preferRelativeResize="0"/>
            <p:nvPr/>
          </p:nvPicPr>
          <p:blipFill rotWithShape="1">
            <a:blip r:embed="rId3">
              <a:alphaModFix/>
            </a:blip>
            <a:srcRect b="6612" l="18211" r="18884" t="82631"/>
            <a:stretch/>
          </p:blipFill>
          <p:spPr>
            <a:xfrm>
              <a:off x="1058325" y="3666375"/>
              <a:ext cx="3129651" cy="446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" name="Google Shape;208;p24"/>
          <p:cNvGrpSpPr/>
          <p:nvPr/>
        </p:nvGrpSpPr>
        <p:grpSpPr>
          <a:xfrm>
            <a:off x="5046142" y="784702"/>
            <a:ext cx="4007160" cy="4251963"/>
            <a:chOff x="1127225" y="845125"/>
            <a:chExt cx="3049125" cy="3235400"/>
          </a:xfrm>
        </p:grpSpPr>
        <p:pic>
          <p:nvPicPr>
            <p:cNvPr id="209" name="Google Shape;209;p24" title="report_gauche_a_moudenc.png"/>
            <p:cNvPicPr preferRelativeResize="0"/>
            <p:nvPr/>
          </p:nvPicPr>
          <p:blipFill rotWithShape="1">
            <a:blip r:embed="rId4">
              <a:alphaModFix/>
            </a:blip>
            <a:srcRect b="31885" l="19593" r="19121" t="0"/>
            <a:stretch/>
          </p:blipFill>
          <p:spPr>
            <a:xfrm>
              <a:off x="1127225" y="845125"/>
              <a:ext cx="3049125" cy="2823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4" title="report_gauche_a_moudenc.png"/>
            <p:cNvPicPr preferRelativeResize="0"/>
            <p:nvPr/>
          </p:nvPicPr>
          <p:blipFill rotWithShape="1">
            <a:blip r:embed="rId4">
              <a:alphaModFix/>
            </a:blip>
            <a:srcRect b="6733" l="19593" r="19121" t="83343"/>
            <a:stretch/>
          </p:blipFill>
          <p:spPr>
            <a:xfrm>
              <a:off x="1127225" y="3669100"/>
              <a:ext cx="3049125" cy="411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24"/>
          <p:cNvGrpSpPr/>
          <p:nvPr/>
        </p:nvGrpSpPr>
        <p:grpSpPr>
          <a:xfrm>
            <a:off x="1649443" y="692721"/>
            <a:ext cx="5845115" cy="4241678"/>
            <a:chOff x="2396375" y="334150"/>
            <a:chExt cx="5533575" cy="4015600"/>
          </a:xfrm>
        </p:grpSpPr>
        <p:pic>
          <p:nvPicPr>
            <p:cNvPr id="212" name="Google Shape;212;p24" title="fuite_de_voix_et_report_map.png"/>
            <p:cNvPicPr preferRelativeResize="0"/>
            <p:nvPr/>
          </p:nvPicPr>
          <p:blipFill rotWithShape="1">
            <a:blip r:embed="rId5">
              <a:alphaModFix/>
            </a:blip>
            <a:srcRect b="31982" l="5415" r="4931" t="0"/>
            <a:stretch/>
          </p:blipFill>
          <p:spPr>
            <a:xfrm>
              <a:off x="2396375" y="334150"/>
              <a:ext cx="5533575" cy="3498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4" title="fuite_de_voix_et_report_map.png"/>
            <p:cNvPicPr preferRelativeResize="0"/>
            <p:nvPr/>
          </p:nvPicPr>
          <p:blipFill rotWithShape="1">
            <a:blip r:embed="rId5">
              <a:alphaModFix/>
            </a:blip>
            <a:srcRect b="6498" l="5415" r="4931" t="83449"/>
            <a:stretch/>
          </p:blipFill>
          <p:spPr>
            <a:xfrm>
              <a:off x="2396375" y="3832675"/>
              <a:ext cx="5533575" cy="517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 - Quels sont les bons élèves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311700" y="779775"/>
            <a:ext cx="8520600" cy="41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Résultats des </a:t>
            </a:r>
            <a:r>
              <a:rPr lang="fr"/>
              <a:t>Élections</a:t>
            </a:r>
            <a:r>
              <a:rPr lang="fr"/>
              <a:t> européennes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Les </a:t>
            </a:r>
            <a:r>
              <a:rPr lang="fr"/>
              <a:t>Écologistes</a:t>
            </a:r>
            <a:r>
              <a:rPr lang="fr"/>
              <a:t> avec Marie Toussaint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Génération Socialiste avec Raphaël Glucksmann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La France Insoumise avec Manon Aubry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Force relative du parti LE par rapport à GS 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Voix LE / (Voix LE + Voix GS)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Chaque quartier est plutôt GS ou 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fr"/>
              <a:t>Lien entre déperdition de voix et force relative des </a:t>
            </a:r>
            <a:r>
              <a:rPr lang="fr"/>
              <a:t>Écologistes</a:t>
            </a:r>
            <a:r>
              <a:rPr lang="fr"/>
              <a:t> 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 - Quels sont les bons élèves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26" title="Vivre_mieux_europeennes_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625" y="692725"/>
            <a:ext cx="6946750" cy="41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 - Quels sont les bons élèves ?</a:t>
            </a:r>
            <a:endParaRPr/>
          </a:p>
        </p:txBody>
      </p:sp>
      <p:sp>
        <p:nvSpPr>
          <p:cNvPr id="231" name="Google Shape;231;p27"/>
          <p:cNvSpPr txBox="1"/>
          <p:nvPr>
            <p:ph idx="1" type="body"/>
          </p:nvPr>
        </p:nvSpPr>
        <p:spPr>
          <a:xfrm>
            <a:off x="311700" y="779775"/>
            <a:ext cx="8520600" cy="41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Modèle Statistique 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Variable à étudier : Fuite de voix (Gauche unie premier tour - Gauche unie second tour)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Variables explicatives 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Voix LE </a:t>
            </a:r>
            <a:r>
              <a:rPr lang="fr"/>
              <a:t>européennes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Voix LFI européennes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Voix GS européennes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Différences d’abstention entre Municipales et Européennes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report à gauche - Quels sont les bons élèves ?</a:t>
            </a:r>
            <a:endParaRPr/>
          </a:p>
        </p:txBody>
      </p:sp>
      <p:pic>
        <p:nvPicPr>
          <p:cNvPr id="237" name="Google Shape;237;p28"/>
          <p:cNvPicPr preferRelativeResize="0"/>
          <p:nvPr/>
        </p:nvPicPr>
        <p:blipFill rotWithShape="1">
          <a:blip r:embed="rId3">
            <a:alphaModFix/>
          </a:blip>
          <a:srcRect b="25241" l="0" r="11995" t="42820"/>
          <a:stretch/>
        </p:blipFill>
        <p:spPr>
          <a:xfrm>
            <a:off x="311700" y="1100927"/>
            <a:ext cx="7194899" cy="13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8"/>
          <p:cNvPicPr preferRelativeResize="0"/>
          <p:nvPr/>
        </p:nvPicPr>
        <p:blipFill rotWithShape="1">
          <a:blip r:embed="rId3">
            <a:alphaModFix/>
          </a:blip>
          <a:srcRect b="63023" l="31775" r="36419" t="5040"/>
          <a:stretch/>
        </p:blipFill>
        <p:spPr>
          <a:xfrm>
            <a:off x="6543525" y="3766150"/>
            <a:ext cx="2600474" cy="133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8"/>
          <p:cNvSpPr txBox="1"/>
          <p:nvPr/>
        </p:nvSpPr>
        <p:spPr>
          <a:xfrm>
            <a:off x="370425" y="2571750"/>
            <a:ext cx="6017400" cy="24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800"/>
              <a:buFont typeface="Barlow Condensed Medium"/>
              <a:buChar char="●"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Pas de corrélation significative entre votes LE et Fuite de voix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800"/>
              <a:buFont typeface="Barlow Condensed Medium"/>
              <a:buChar char="●"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Corrélation négative entre votes LFI et Fuite de voix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46A5D"/>
              </a:buClr>
              <a:buSzPts val="1800"/>
              <a:buFont typeface="Barlow Condensed Medium"/>
              <a:buChar char="●"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Corrélation positive entre votes GS et Fuite de voix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Autres analyses - Force relative des partis de gauche (d’après les européennes)</a:t>
            </a:r>
            <a:endParaRPr/>
          </a:p>
        </p:txBody>
      </p:sp>
      <p:grpSp>
        <p:nvGrpSpPr>
          <p:cNvPr id="245" name="Google Shape;245;p29"/>
          <p:cNvGrpSpPr/>
          <p:nvPr/>
        </p:nvGrpSpPr>
        <p:grpSpPr>
          <a:xfrm>
            <a:off x="-16" y="1202279"/>
            <a:ext cx="3048024" cy="3219307"/>
            <a:chOff x="3764650" y="436950"/>
            <a:chExt cx="3802425" cy="4015600"/>
          </a:xfrm>
        </p:grpSpPr>
        <p:pic>
          <p:nvPicPr>
            <p:cNvPr id="246" name="Google Shape;246;p29" title="Bastion_ecolo_map.png"/>
            <p:cNvPicPr preferRelativeResize="0"/>
            <p:nvPr/>
          </p:nvPicPr>
          <p:blipFill rotWithShape="1">
            <a:blip r:embed="rId3">
              <a:alphaModFix/>
            </a:blip>
            <a:srcRect b="31633" l="18889" r="19505" t="0"/>
            <a:stretch/>
          </p:blipFill>
          <p:spPr>
            <a:xfrm>
              <a:off x="3764650" y="436950"/>
              <a:ext cx="3802425" cy="351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9" title="Bastion_ecolo_map.png"/>
            <p:cNvPicPr preferRelativeResize="0"/>
            <p:nvPr/>
          </p:nvPicPr>
          <p:blipFill rotWithShape="1">
            <a:blip r:embed="rId3">
              <a:alphaModFix/>
            </a:blip>
            <a:srcRect b="7235" l="18889" r="19505" t="83065"/>
            <a:stretch/>
          </p:blipFill>
          <p:spPr>
            <a:xfrm>
              <a:off x="3764650" y="3953625"/>
              <a:ext cx="3802425" cy="498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8" name="Google Shape;248;p29"/>
          <p:cNvGrpSpPr/>
          <p:nvPr/>
        </p:nvGrpSpPr>
        <p:grpSpPr>
          <a:xfrm>
            <a:off x="3047750" y="1202273"/>
            <a:ext cx="3047839" cy="3258407"/>
            <a:chOff x="4724700" y="81650"/>
            <a:chExt cx="3741975" cy="4000500"/>
          </a:xfrm>
        </p:grpSpPr>
        <p:pic>
          <p:nvPicPr>
            <p:cNvPr id="249" name="Google Shape;249;p29" title="Bastion_PS_map.png"/>
            <p:cNvPicPr preferRelativeResize="0"/>
            <p:nvPr/>
          </p:nvPicPr>
          <p:blipFill rotWithShape="1">
            <a:blip r:embed="rId4">
              <a:alphaModFix/>
            </a:blip>
            <a:srcRect b="31773" l="19503" r="19873" t="0"/>
            <a:stretch/>
          </p:blipFill>
          <p:spPr>
            <a:xfrm>
              <a:off x="4724700" y="81650"/>
              <a:ext cx="3741975" cy="3509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9" title="Bastion_PS_map.png"/>
            <p:cNvPicPr preferRelativeResize="0"/>
            <p:nvPr/>
          </p:nvPicPr>
          <p:blipFill rotWithShape="1">
            <a:blip r:embed="rId4">
              <a:alphaModFix/>
            </a:blip>
            <a:srcRect b="7226" l="19503" r="19873" t="83220"/>
            <a:stretch/>
          </p:blipFill>
          <p:spPr>
            <a:xfrm>
              <a:off x="4724700" y="3590775"/>
              <a:ext cx="3741975" cy="491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" name="Google Shape;251;p29"/>
          <p:cNvGrpSpPr/>
          <p:nvPr/>
        </p:nvGrpSpPr>
        <p:grpSpPr>
          <a:xfrm>
            <a:off x="6095837" y="1202243"/>
            <a:ext cx="3047892" cy="3336443"/>
            <a:chOff x="5752800" y="663725"/>
            <a:chExt cx="3689049" cy="4038300"/>
          </a:xfrm>
        </p:grpSpPr>
        <p:pic>
          <p:nvPicPr>
            <p:cNvPr id="252" name="Google Shape;252;p29" title="Bastion_LFI_map.png"/>
            <p:cNvPicPr preferRelativeResize="0"/>
            <p:nvPr/>
          </p:nvPicPr>
          <p:blipFill rotWithShape="1">
            <a:blip r:embed="rId5">
              <a:alphaModFix/>
            </a:blip>
            <a:srcRect b="31624" l="19993" r="20238" t="0"/>
            <a:stretch/>
          </p:blipFill>
          <p:spPr>
            <a:xfrm>
              <a:off x="5752800" y="663725"/>
              <a:ext cx="3689049" cy="351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9" title="Bastion_LFI_map.png"/>
            <p:cNvPicPr preferRelativeResize="0"/>
            <p:nvPr/>
          </p:nvPicPr>
          <p:blipFill rotWithShape="1">
            <a:blip r:embed="rId5">
              <a:alphaModFix/>
            </a:blip>
            <a:srcRect b="7227" l="19993" r="20238" t="82632"/>
            <a:stretch/>
          </p:blipFill>
          <p:spPr>
            <a:xfrm>
              <a:off x="5752800" y="4180425"/>
              <a:ext cx="3689049" cy="521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Typologie des bureaux de votes</a:t>
            </a:r>
            <a:endParaRPr/>
          </a:p>
        </p:txBody>
      </p:sp>
      <p:pic>
        <p:nvPicPr>
          <p:cNvPr id="259" name="Google Shape;259;p30" title="Clusters_3_joined_map.png"/>
          <p:cNvPicPr preferRelativeResize="0"/>
          <p:nvPr/>
        </p:nvPicPr>
        <p:blipFill rotWithShape="1">
          <a:blip r:embed="rId3">
            <a:alphaModFix/>
          </a:blip>
          <a:srcRect b="0" l="9094" r="10072" t="0"/>
          <a:stretch/>
        </p:blipFill>
        <p:spPr>
          <a:xfrm>
            <a:off x="5669625" y="1621000"/>
            <a:ext cx="3416901" cy="35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 title="Cluster_3_municipal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750" y="636000"/>
            <a:ext cx="6483051" cy="216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0"/>
          <p:cNvSpPr txBox="1"/>
          <p:nvPr/>
        </p:nvSpPr>
        <p:spPr>
          <a:xfrm>
            <a:off x="385525" y="3500075"/>
            <a:ext cx="522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Par méthodes des K-moyens, clustering en fonction des résultats des municipales (k=3)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Typologie des bureaux de votes</a:t>
            </a:r>
            <a:endParaRPr/>
          </a:p>
        </p:txBody>
      </p:sp>
      <p:sp>
        <p:nvSpPr>
          <p:cNvPr id="267" name="Google Shape;267;p31"/>
          <p:cNvSpPr txBox="1"/>
          <p:nvPr/>
        </p:nvSpPr>
        <p:spPr>
          <a:xfrm>
            <a:off x="385525" y="3500075"/>
            <a:ext cx="522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Par méthodes des K-moyens, clustering en fonction des résultats des municipales (k=3)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pic>
        <p:nvPicPr>
          <p:cNvPr id="268" name="Google Shape;268;p31" title="Clusters_8_map.png"/>
          <p:cNvPicPr preferRelativeResize="0"/>
          <p:nvPr/>
        </p:nvPicPr>
        <p:blipFill rotWithShape="1">
          <a:blip r:embed="rId3">
            <a:alphaModFix/>
          </a:blip>
          <a:srcRect b="0" l="14583" r="17176" t="0"/>
          <a:stretch/>
        </p:blipFill>
        <p:spPr>
          <a:xfrm>
            <a:off x="5798150" y="1057875"/>
            <a:ext cx="3345849" cy="408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1" title="Clusters_8_municipales.png"/>
          <p:cNvPicPr preferRelativeResize="0"/>
          <p:nvPr/>
        </p:nvPicPr>
        <p:blipFill rotWithShape="1">
          <a:blip r:embed="rId4">
            <a:alphaModFix/>
          </a:blip>
          <a:srcRect b="0" l="0" r="10274" t="0"/>
          <a:stretch/>
        </p:blipFill>
        <p:spPr>
          <a:xfrm>
            <a:off x="0" y="911951"/>
            <a:ext cx="5948949" cy="22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311700" y="120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fr"/>
              <a:t>Typologie des bureaux de votes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2"/>
          <p:cNvSpPr txBox="1"/>
          <p:nvPr/>
        </p:nvSpPr>
        <p:spPr>
          <a:xfrm>
            <a:off x="385525" y="3500075"/>
            <a:ext cx="522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146A5D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Par méthodes des K-moyens, clustering en fonction des résultats des municipales + européennes (k=4)</a:t>
            </a:r>
            <a:endParaRPr sz="1800">
              <a:solidFill>
                <a:srgbClr val="146A5D"/>
              </a:solidFill>
              <a:latin typeface="Barlow Condensed Medium"/>
              <a:ea typeface="Barlow Condensed Medium"/>
              <a:cs typeface="Barlow Condensed Medium"/>
              <a:sym typeface="Barlow Condensed Medium"/>
            </a:endParaRPr>
          </a:p>
        </p:txBody>
      </p:sp>
      <p:pic>
        <p:nvPicPr>
          <p:cNvPr id="276" name="Google Shape;276;p32" title="Cluster_4_all_scores_map.png"/>
          <p:cNvPicPr preferRelativeResize="0"/>
          <p:nvPr/>
        </p:nvPicPr>
        <p:blipFill rotWithShape="1">
          <a:blip r:embed="rId3">
            <a:alphaModFix/>
          </a:blip>
          <a:srcRect b="0" l="14751" r="15039" t="0"/>
          <a:stretch/>
        </p:blipFill>
        <p:spPr>
          <a:xfrm>
            <a:off x="6198200" y="1647975"/>
            <a:ext cx="2903451" cy="344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2" title="Cluster_4_all_scores.png"/>
          <p:cNvPicPr preferRelativeResize="0"/>
          <p:nvPr/>
        </p:nvPicPr>
        <p:blipFill rotWithShape="1">
          <a:blip r:embed="rId4">
            <a:alphaModFix/>
          </a:blip>
          <a:srcRect b="0" l="0" r="11363" t="0"/>
          <a:stretch/>
        </p:blipFill>
        <p:spPr>
          <a:xfrm>
            <a:off x="91900" y="947625"/>
            <a:ext cx="6106301" cy="229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Questions 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